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AI Silo CEL - Alineación Fase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BOM HW/SW actualizado, handoff y frontera de responsabilidades | revisión formal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La infraestructura Dell/Martinexsa actualiza el entorno físico; el DSP firmado conserva el alcance contractual del piloto.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323"/>
                </a:solidFill>
              </a:defRPr>
            </a:pPr>
            <a:r>
              <a:t>Objetivo de la sesión: cerrar decisiones técnicas y condiciones de readiness para ejecutar Fase 0 sin ambigüedad de alcance.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32323"/>
                </a:solidFill>
              </a:defRPr>
            </a:pPr>
            <a:r>
              <a:t>C² Labs | CEL-CFU 02/26 | 20 de mayo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1. Tres fuentes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E1E1E"/>
                </a:solidFill>
              </a:defRPr>
            </a:pPr>
            <a:r>
              <a:t>Contractual: DSP firmado CEL-CFU 02/26 - alcance, fases, entregables, RACI y obligaciones.</a:t>
            </a:r>
          </a:p>
          <a:p>
            <a:pPr>
              <a:spcAft>
                <a:spcPts val="300"/>
              </a:spcAft>
              <a:defRPr sz="1800">
                <a:solidFill>
                  <a:srgbClr val="1E1E1E"/>
                </a:solidFill>
              </a:defRPr>
            </a:pPr>
            <a:r>
              <a:t>Física: plataforma Dell/Martinexsa efectivamente adquirida y entregada por CEL.</a:t>
            </a:r>
          </a:p>
          <a:p>
            <a:pPr>
              <a:spcAft>
                <a:spcPts val="300"/>
              </a:spcAft>
              <a:defRPr sz="1800">
                <a:solidFill>
                  <a:srgbClr val="1E1E1E"/>
                </a:solidFill>
              </a:defRPr>
            </a:pPr>
            <a:r>
              <a:t>Operativa: paquete final - limpia inconsistencias, fija handoff, gates y responsabilidades.</a:t>
            </a:r>
          </a:p>
          <a:p>
            <a:pPr>
              <a:spcAft>
                <a:spcPts val="300"/>
              </a:spcAft>
              <a:defRPr sz="1800">
                <a:solidFill>
                  <a:srgbClr val="1E1E1E"/>
                </a:solidFill>
              </a:defRPr>
            </a:pPr>
            <a:r>
              <a:t>Principio: infraestructura adquirida = entorno habilitante; no ampliación tácita del alcance de consultoría.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2. Qué cambió / qué no cambió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2323"/>
                </a:solidFill>
              </a:defRPr>
            </a:pPr>
            <a:r>
              <a:t>Cambió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035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BOM físico original queda deprecated.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Plataforma real: R770 IA, R770 virtualización, R570 NAS, PowerSwitch 25/100GbE.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Mage queda como capa central; no Pentaho/Grafana.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Fase 0 se valida contra la infraestructura entregada.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2323"/>
                </a:solidFill>
              </a:defRPr>
            </a:pPr>
            <a:r>
              <a:t>No cambió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035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DSP firmado sigue rigiendo obligaciones.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La Consultora ejecuta el piloto funcional.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CEL/TI/proveedor conservan infraestructura y soporte.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El stack del piloto mantiene IA, datos, dashboard, alertas y transferencia.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3. Topología física del data center</a:t>
            </a:r>
          </a:p>
        </p:txBody>
      </p:sp>
      <p:pic>
        <p:nvPicPr>
          <p:cNvPr id="3" name="Picture 2" descr="data_cente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3142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4. Stack funcional del piloto</a:t>
            </a:r>
          </a:p>
        </p:txBody>
      </p:sp>
      <p:pic>
        <p:nvPicPr>
          <p:cNvPr id="3" name="Picture 2" descr="functional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11521440" cy="956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5. Nuevo BOM HW - plataforma habilitante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Dell PowerEdge R770 ML/IA: cómputo acelerado para entrenamiento/inferencia; GPU efectiva a validar contra entrega.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Dell PowerEdge R770 virtualización: VMs/servicios institucionales; host del piloto solo si CEL/TI lo asigna.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Dell PowerEdge R570 NAS/File Server: datasets, artefactos, históricos, modelos y archivos compartidos.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Dell PowerSwitch S5224F-ON: conectividad ToR 25/100GbE bajo CEL/proveedor.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Estaciones Dell Pro Max: gestión/visualización; no sustituyen el servidor IA del piloto.</a:t>
            </a:r>
          </a:p>
          <a:p>
            <a:pPr>
              <a:spcAft>
                <a:spcPts val="300"/>
              </a:spcAft>
              <a:defRPr sz="1400">
                <a:solidFill>
                  <a:srgbClr val="1E1E1E"/>
                </a:solidFill>
              </a:defRPr>
            </a:pPr>
            <a:r>
              <a:t>Soporte Dell/NVIDIA/TechCircle: recurso de CEL/proveedor, no ampliación de scope de Consultora.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6. Nuevo BOM SW - separación crítica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Base de plataforma (CEL/proveedor)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949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Ubuntu Server 24.04 LTS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Docker Engine + Compose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Windows Server 2025 en NAS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SmartFabric OS10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iDRAC Enterprise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NVIDIA AI Enterprise / drivers / CUDA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Stack funcional del piloto (Consultora + CEL/TI)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Mage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Python + librerías IA/GIS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PyTorch + NeuralHydrology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PostgreSQL/PostGIS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MongoDB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React/API/dashboard + alertas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7. Frontera de responsabilidad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CEL / TI / Martinexsa / 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Adquisición, entrega, garantías, licencias.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Racking, energía, cooling, cableado.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Red, VLAN, firewall, VPN/bastion.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OS base, drivers, iDRAC, firmware.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NAS, backups, soporte, administración continua.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3"/>
                </a:solidFill>
              </a:defRPr>
            </a:pPr>
            <a:r>
              <a:t>Consultora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94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Diseño técnico del piloto.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Mage, Python, BDs, pipelines.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Modelo IA e inundación.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API/dashboard/alertas.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Certificación funcional de Fase 0.</a:t>
            </a:r>
          </a:p>
          <a:p>
            <a:pPr>
              <a:spcAft>
                <a:spcPts val="300"/>
              </a:spcAft>
              <a:defRPr sz="1300">
                <a:solidFill>
                  <a:srgbClr val="1E1E1E"/>
                </a:solidFill>
              </a:defRPr>
            </a:pPr>
            <a:r>
              <a:t>Documentación y transferencia.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8. Gates de Fase 0</a:t>
            </a:r>
          </a:p>
        </p:txBody>
      </p:sp>
      <p:pic>
        <p:nvPicPr>
          <p:cNvPr id="3" name="Picture 2" descr="fase0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11338560" cy="10100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323"/>
                </a:solidFill>
              </a:defRPr>
            </a:pPr>
            <a:r>
              <a:t>Regla: Fase 0 técnica plena inicia cuando el entorno está instalado, accesible, documentado y verificable.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9. Lo que CEL/TI/proveedor debe confirmar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Inventario final y GPU efectiva.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Host final de Mage, PostgreSQL/PostGIS, MongoDB, API y dashboard.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VPN/bastion, usuarios, permisos y procedimiento de soporte.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VLAN/IP/DNS/firewall/egress a fuentes externas.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Rutas NAS, cuotas, permisos, backup/restore y RPO/RTO.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Fuentes internas CEL, data registry, owners y acceso read-only.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SMTP/SMS, listas de destinatarios, umbrales y protocolo de alertas.</a:t>
            </a:r>
          </a:p>
          <a:p>
            <a:pPr>
              <a:spcAft>
                <a:spcPts val="300"/>
              </a:spcAft>
              <a:defRPr sz="1500">
                <a:solidFill>
                  <a:srgbClr val="1E1E1E"/>
                </a:solidFill>
              </a:defRPr>
            </a:pPr>
            <a:r>
              <a:t>Contactos de escalación Martinexsa/Dell/NVIDIA y uso de TechCircle.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10. Gobernanza y costura operativa</a:t>
            </a:r>
          </a:p>
        </p:txBody>
      </p:sp>
      <p:pic>
        <p:nvPicPr>
          <p:cNvPr id="3" name="Picture 2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51560"/>
            <a:ext cx="9326880" cy="62566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2323"/>
                </a:solidFill>
              </a:defRPr>
            </a:pPr>
            <a:r>
              <a:t>José Manuel Guardado / DevOps es la costura entre el Core Pilot Team y el Comité de Informática.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11. Decisiones requeridas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E1E1E"/>
                </a:solidFill>
              </a:defRPr>
            </a:pPr>
            <a:r>
              <a:t>Aprobar este paquete final como fuente operativa para revisión formal para Fase 0.</a:t>
            </a:r>
          </a:p>
          <a:p>
            <a:pPr>
              <a:spcAft>
                <a:spcPts val="300"/>
              </a:spcAft>
              <a:defRPr sz="1700">
                <a:solidFill>
                  <a:srgbClr val="1E1E1E"/>
                </a:solidFill>
              </a:defRPr>
            </a:pPr>
            <a:r>
              <a:t>Cerrar o fechar decisiones D-01 a D-08: hosts, GPU, storage, acceso, egress, datos y backups.</a:t>
            </a:r>
          </a:p>
          <a:p>
            <a:pPr>
              <a:spcAft>
                <a:spcPts val="300"/>
              </a:spcAft>
              <a:defRPr sz="1700">
                <a:solidFill>
                  <a:srgbClr val="1E1E1E"/>
                </a:solidFill>
              </a:defRPr>
            </a:pPr>
            <a:r>
              <a:t>Asignar owners para cada INF-01 a INF-24.</a:t>
            </a:r>
          </a:p>
          <a:p>
            <a:pPr>
              <a:spcAft>
                <a:spcPts val="300"/>
              </a:spcAft>
              <a:defRPr sz="1700">
                <a:solidFill>
                  <a:srgbClr val="1E1E1E"/>
                </a:solidFill>
              </a:defRPr>
            </a:pPr>
            <a:r>
              <a:t>Definir formato, firmantes y fecha objetivo de la Certificación de Entorno Operacional.</a:t>
            </a:r>
          </a:p>
          <a:p>
            <a:pPr>
              <a:spcAft>
                <a:spcPts val="300"/>
              </a:spcAft>
              <a:defRPr sz="1700">
                <a:solidFill>
                  <a:srgbClr val="1E1E1E"/>
                </a:solidFill>
              </a:defRPr>
            </a:pPr>
            <a:r>
              <a:t>Documentar waivers si CEL decide avanzar con dependencias pendientes.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2742"/>
                </a:solidFill>
              </a:defRPr>
            </a:pPr>
            <a:r>
              <a:t>12. Mensaje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La plataforma Dell/Martinexsa habilita el piloto; no traslada a la Consultora la administración integral del data center.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2323"/>
                </a:solidFill>
              </a:defRPr>
            </a:pPr>
            <a:r>
              <a:t>La ruta correcta es cerrar handoff, validar readiness, levantar Mage y ejecutar el pipeline dummy como gate técnico de Fase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2323"/>
                </a:solidFill>
              </a:defRPr>
            </a:pPr>
            <a:r>
              <a:t>Todo servicio adicional debe formalizarse expresamente.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